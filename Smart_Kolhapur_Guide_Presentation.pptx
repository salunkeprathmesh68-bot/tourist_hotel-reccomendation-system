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0" y="777240"/>
            <a:ext cx="7955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2CE"/>
                </a:solidFill>
                <a:latin typeface="Calibri"/>
              </a:defRPr>
            </a:pPr>
            <a:r>
              <a:t>SLIDE 01  |  PROJECT OVERVIEW</a:t>
            </a:r>
          </a:p>
          <a:p>
            <a:pPr>
              <a:defRPr sz="3800" b="1">
                <a:solidFill>
                  <a:srgbClr val="06283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2103120"/>
            <a:ext cx="7955279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05072" y="2240280"/>
            <a:ext cx="7626096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69663" y="246888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2272" y="2276856"/>
            <a:ext cx="7040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Calibri"/>
              </a:rPr>
              <a:t>SMART KOLHAPUR GUIDE is a web-based tourism guide for Kolhapur district.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5072" y="2999232"/>
            <a:ext cx="7626096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69663" y="3227832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3035808"/>
            <a:ext cx="7040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Calibri"/>
              </a:rPr>
              <a:t>It helps tourists explore historical, religious, cultural, and natural places.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05072" y="3758184"/>
            <a:ext cx="7626096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69663" y="3986784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3794760"/>
            <a:ext cx="7040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Calibri"/>
              </a:rPr>
              <a:t>It provides photographs, locations, history, and important information about tourist places.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5072" y="4517136"/>
            <a:ext cx="7626096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69663" y="4745736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4553712"/>
            <a:ext cx="7040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Calibri"/>
              </a:rPr>
              <a:t>It recommends suitable hotels based on budget, location, ratings, and facilities.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05072" y="5276088"/>
            <a:ext cx="7626096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69663" y="5504688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5312664"/>
            <a:ext cx="7040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Calibri"/>
              </a:rPr>
              <a:t>It helps users discover destinations according to their interests.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283E"/>
                </a:solidFill>
                <a:latin typeface="Calibri"/>
              </a:defRPr>
            </a:pPr>
            <a:r>
              <a:t>SLIDE 02  |  CHALLENGES</a:t>
            </a:r>
          </a:p>
          <a:p>
            <a:pPr>
              <a:defRPr sz="2800" b="1">
                <a:solidFill>
                  <a:srgbClr val="06283E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196596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755648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Tourism information is scattered across different websites and platforms.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59736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688336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478024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Finding complete information about tourist places takes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82112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3410712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200400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Comparing hotel prices, ratings, facilities, and locations is difficult.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04487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4133087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922775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Finding suitable hotels near tourist attractions can be challenging.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26864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855464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645152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Tourists need a simple way to search and compare hotels.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34924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557784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5367527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A centralized system is required to simplify tourism and accommodation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283E"/>
                </a:solidFill>
                <a:latin typeface="Calibri"/>
              </a:defRPr>
            </a:pPr>
            <a:r>
              <a:t>SLIDE 03  |  PROJECT GOALS</a:t>
            </a:r>
          </a:p>
          <a:p>
            <a:pPr>
              <a:defRPr sz="2800" b="1">
                <a:solidFill>
                  <a:srgbClr val="06283E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196596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755648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To develop a user-friendly tourism guide for Kolhapur.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59736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688336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478024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To provide useful information about tourist destinations.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82112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3410712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200400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To help users find suitable hotels easily.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04487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4133087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922775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To recommend hotels based on budget, location, ratings, and facilities.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26864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855464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645152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To connect hotel recommendations with selected tourist attractions.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34924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557784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5367527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To reduce the time and effort required for travel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283E"/>
                </a:solidFill>
                <a:latin typeface="Calibri"/>
              </a:defRPr>
            </a:pPr>
            <a:r>
              <a:t>SLIDE 04  |  SOLUTION HIGHLIGHTS</a:t>
            </a:r>
          </a:p>
          <a:p>
            <a:pPr>
              <a:defRPr sz="2800" b="1">
                <a:solidFill>
                  <a:srgbClr val="06283E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1883664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709928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Develop a user-friendly web-based tourism guide.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04288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496312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22576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Provide tourist-place information in one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16936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310896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935224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Allow users to search and filter destinations by category.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9584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721608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47872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Recommend hotels based on user preferences and requirements.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42231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334255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160519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Rank hotels according to their suitability.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54879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946903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773167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Display hotel details for easy comparison.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67527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5559551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385815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Provide voice-based assistance for tourist-related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283E"/>
                </a:solidFill>
                <a:latin typeface="Calibri"/>
              </a:defRPr>
            </a:pPr>
            <a:r>
              <a:t>SLIDE 05  |  CORE CAPABILITIES</a:t>
            </a:r>
          </a:p>
          <a:p>
            <a:pPr>
              <a:defRPr sz="2800" b="1">
                <a:solidFill>
                  <a:srgbClr val="06283E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1883664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709928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6283E"/>
                </a:solidFill>
                <a:latin typeface="Calibri"/>
              </a:rPr>
              <a:t>Tourist Information:</a:t>
            </a:r>
            <a:r>
              <a:rPr sz="1150" b="1">
                <a:solidFill>
                  <a:srgbClr val="1E293B"/>
                </a:solidFill>
                <a:latin typeface="Calibri"/>
              </a:rPr>
              <a:t> Details on heritage, history, and attractions.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04288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496312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22576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6283E"/>
                </a:solidFill>
                <a:latin typeface="Calibri"/>
              </a:rPr>
              <a:t>Search &amp; Filters:</a:t>
            </a:r>
            <a:r>
              <a:rPr sz="1150" b="1">
                <a:solidFill>
                  <a:srgbClr val="1E293B"/>
                </a:solidFill>
                <a:latin typeface="Calibri"/>
              </a:rPr>
              <a:t> Discover places by interest and category.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16936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310896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935224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6283E"/>
                </a:solidFill>
                <a:latin typeface="Calibri"/>
              </a:rPr>
              <a:t>Hotel Recommendations:</a:t>
            </a:r>
            <a:r>
              <a:rPr sz="1150" b="1">
                <a:solidFill>
                  <a:srgbClr val="1E293B"/>
                </a:solidFill>
                <a:latin typeface="Calibri"/>
              </a:rPr>
              <a:t> Tailored stays based on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9584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721608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47872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6283E"/>
                </a:solidFill>
                <a:latin typeface="Calibri"/>
              </a:rPr>
              <a:t>Hotel Comparison:</a:t>
            </a:r>
            <a:r>
              <a:rPr sz="1150" b="1">
                <a:solidFill>
                  <a:srgbClr val="1E293B"/>
                </a:solidFill>
                <a:latin typeface="Calibri"/>
              </a:rPr>
              <a:t> Transparent prices, ratings, and amenities.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42231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334255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160519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6283E"/>
                </a:solidFill>
                <a:latin typeface="Calibri"/>
              </a:rPr>
              <a:t>Nearby Attractions:</a:t>
            </a:r>
            <a:r>
              <a:rPr sz="1150" b="1">
                <a:solidFill>
                  <a:srgbClr val="1E293B"/>
                </a:solidFill>
                <a:latin typeface="Calibri"/>
              </a:rPr>
              <a:t> Discover sights around destinations.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54879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946903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773167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6283E"/>
                </a:solidFill>
                <a:latin typeface="Calibri"/>
              </a:rPr>
              <a:t>Voice Assistant:</a:t>
            </a:r>
            <a:r>
              <a:rPr sz="1150" b="1">
                <a:solidFill>
                  <a:srgbClr val="1E293B"/>
                </a:solidFill>
                <a:latin typeface="Calibri"/>
              </a:rPr>
              <a:t> Voice interaction for tourist questions.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67527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5559551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385815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6283E"/>
                </a:solidFill>
                <a:latin typeface="Calibri"/>
              </a:rPr>
              <a:t>Intuitive UI:</a:t>
            </a:r>
            <a:r>
              <a:rPr sz="1150" b="1">
                <a:solidFill>
                  <a:srgbClr val="1E293B"/>
                </a:solidFill>
                <a:latin typeface="Calibri"/>
              </a:rPr>
              <a:t> Clean and responsive modern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283E"/>
                </a:solidFill>
                <a:latin typeface="Calibri"/>
              </a:defRPr>
            </a:pPr>
            <a:r>
              <a:t>SLIDE 06  |  IMPLEMENTATION</a:t>
            </a:r>
          </a:p>
          <a:p>
            <a:pPr>
              <a:defRPr sz="2800" b="1">
                <a:solidFill>
                  <a:srgbClr val="06283E"/>
                </a:solidFill>
                <a:latin typeface="Calibri"/>
              </a:defRPr>
            </a:pPr>
            <a:r>
              <a:t>Technology /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196596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755648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6283E"/>
                </a:solidFill>
                <a:latin typeface="Calibri"/>
              </a:rPr>
              <a:t>Frontend:</a:t>
            </a:r>
            <a:r>
              <a:rPr sz="1200" b="1">
                <a:solidFill>
                  <a:srgbClr val="1E293B"/>
                </a:solidFill>
                <a:latin typeface="Calibri"/>
              </a:rPr>
              <a:t> HTML, CSS, JavaScript – for the user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59736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688336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478024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6283E"/>
                </a:solidFill>
                <a:latin typeface="Calibri"/>
              </a:rPr>
              <a:t>Backend:</a:t>
            </a:r>
            <a:r>
              <a:rPr sz="1200" b="1">
                <a:solidFill>
                  <a:srgbClr val="1E293B"/>
                </a:solidFill>
                <a:latin typeface="Calibri"/>
              </a:rPr>
              <a:t> Python / Flask – for processing user requests and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82112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3410712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200400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6283E"/>
                </a:solidFill>
                <a:latin typeface="Calibri"/>
              </a:rPr>
              <a:t>Database:</a:t>
            </a:r>
            <a:r>
              <a:rPr sz="1200" b="1">
                <a:solidFill>
                  <a:srgbClr val="1E293B"/>
                </a:solidFill>
                <a:latin typeface="Calibri"/>
              </a:rPr>
              <a:t> MySQL / SQLite – for storing hotel and tourist-place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04487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4133087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922775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6283E"/>
                </a:solidFill>
                <a:latin typeface="Calibri"/>
              </a:rPr>
              <a:t>Recommendation Logic:</a:t>
            </a:r>
            <a:r>
              <a:rPr sz="1200" b="1">
                <a:solidFill>
                  <a:srgbClr val="1E293B"/>
                </a:solidFill>
                <a:latin typeface="Calibri"/>
              </a:rPr>
              <a:t> Matches hotel details with user preferences.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26864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855464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645152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6283E"/>
                </a:solidFill>
                <a:latin typeface="Calibri"/>
              </a:rPr>
              <a:t>Location Services:</a:t>
            </a:r>
            <a:r>
              <a:rPr sz="1200" b="1">
                <a:solidFill>
                  <a:srgbClr val="1E293B"/>
                </a:solidFill>
                <a:latin typeface="Calibri"/>
              </a:rPr>
              <a:t> For displaying locations and identifying nearby attractions.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34924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557784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5367527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6283E"/>
                </a:solidFill>
                <a:latin typeface="Calibri"/>
              </a:rPr>
              <a:t>Voice Technology:</a:t>
            </a:r>
            <a:r>
              <a:rPr sz="1200" b="1">
                <a:solidFill>
                  <a:srgbClr val="1E293B"/>
                </a:solidFill>
                <a:latin typeface="Calibri"/>
              </a:rPr>
              <a:t> For voice input and tourist-related assistance.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283E"/>
                </a:solidFill>
                <a:latin typeface="Calibri"/>
              </a:defRPr>
            </a:pPr>
            <a:r>
              <a:t>SLIDE 07  |  SYSTEM DESIGN</a:t>
            </a:r>
          </a:p>
          <a:p>
            <a:pPr>
              <a:defRPr sz="2800" b="1">
                <a:solidFill>
                  <a:srgbClr val="06283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1883664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709928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6283E"/>
                </a:solidFill>
                <a:latin typeface="Calibri"/>
              </a:rPr>
              <a:t>User Input:</a:t>
            </a:r>
            <a:r>
              <a:rPr sz="1150" b="1">
                <a:solidFill>
                  <a:srgbClr val="1E293B"/>
                </a:solidFill>
                <a:latin typeface="Calibri"/>
              </a:rPr>
              <a:t> Accepts destination, budget, rating, facilities, and preferences.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04288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496312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22576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6283E"/>
                </a:solidFill>
                <a:latin typeface="Calibri"/>
              </a:rPr>
              <a:t>Preference Processing:</a:t>
            </a:r>
            <a:r>
              <a:rPr sz="1150" b="1">
                <a:solidFill>
                  <a:srgbClr val="1E293B"/>
                </a:solidFill>
                <a:latin typeface="Calibri"/>
              </a:rPr>
              <a:t> Processes the user's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16936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310896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935224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6283E"/>
                </a:solidFill>
                <a:latin typeface="Calibri"/>
              </a:rPr>
              <a:t>Hotel Dataset:</a:t>
            </a:r>
            <a:r>
              <a:rPr sz="1150" b="1">
                <a:solidFill>
                  <a:srgbClr val="1E293B"/>
                </a:solidFill>
                <a:latin typeface="Calibri"/>
              </a:rPr>
              <a:t> Stores hotel names, prices, ratings, facilities, and locations.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9584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721608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47872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6283E"/>
                </a:solidFill>
                <a:latin typeface="Calibri"/>
              </a:rPr>
              <a:t>Tourist-Place Dataset:</a:t>
            </a:r>
            <a:r>
              <a:rPr sz="1150" b="1">
                <a:solidFill>
                  <a:srgbClr val="1E293B"/>
                </a:solidFill>
                <a:latin typeface="Calibri"/>
              </a:rPr>
              <a:t> Stores destination details and nearby attractions.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42231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334255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160519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6283E"/>
                </a:solidFill>
                <a:latin typeface="Calibri"/>
              </a:rPr>
              <a:t>Recommendation Module:</a:t>
            </a:r>
            <a:r>
              <a:rPr sz="1150" b="1">
                <a:solidFill>
                  <a:srgbClr val="1E293B"/>
                </a:solidFill>
                <a:latin typeface="Calibri"/>
              </a:rPr>
              <a:t> Matches user preferences with hotel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54879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946903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773167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6283E"/>
                </a:solidFill>
                <a:latin typeface="Calibri"/>
              </a:rPr>
              <a:t>Ranking Module:</a:t>
            </a:r>
            <a:r>
              <a:rPr sz="1150" b="1">
                <a:solidFill>
                  <a:srgbClr val="1E293B"/>
                </a:solidFill>
                <a:latin typeface="Calibri"/>
              </a:rPr>
              <a:t> Ranks hotels according to suitability.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67527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5559551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385815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6283E"/>
                </a:solidFill>
                <a:latin typeface="Calibri"/>
              </a:rPr>
              <a:t>Result Display:</a:t>
            </a:r>
            <a:r>
              <a:rPr sz="1150" b="1">
                <a:solidFill>
                  <a:srgbClr val="1E293B"/>
                </a:solidFill>
                <a:latin typeface="Calibri"/>
              </a:rPr>
              <a:t> Shows recommended hotels and their important details.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283E"/>
                </a:solidFill>
                <a:latin typeface="Calibri"/>
              </a:defRPr>
            </a:pPr>
            <a:r>
              <a:t>SLIDE 08  |  STEP-BY-STEP PROCESS</a:t>
            </a:r>
          </a:p>
          <a:p>
            <a:pPr>
              <a:defRPr sz="2800" b="1">
                <a:solidFill>
                  <a:srgbClr val="06283E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4805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180594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664208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Calibri"/>
              </a:rPr>
              <a:t>User opens the SMART KOLHAPUR GUIDE website.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76272"/>
            <a:ext cx="44805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336291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194560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Calibri"/>
              </a:rPr>
              <a:t>User explores or selects a tourist destination.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06624"/>
            <a:ext cx="44805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2866644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724912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Calibri"/>
              </a:rPr>
              <a:t>User enters hotel requirements such as budget, rating, and facilities.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36976"/>
            <a:ext cx="44805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396996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255264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Calibri"/>
              </a:rPr>
              <a:t>The system processes the user's preferences.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67328"/>
            <a:ext cx="44805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3927348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785615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Calibri"/>
              </a:rPr>
              <a:t>Hotel and tourist-place data are retrieved.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97680"/>
            <a:ext cx="44805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45770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315968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Calibri"/>
              </a:rPr>
              <a:t>The recommendation module matches suitable hotels.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28031"/>
            <a:ext cx="44805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4988051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4846319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Calibri"/>
              </a:rPr>
              <a:t>The ranking module sorts hotels according to suitability.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358383"/>
            <a:ext cx="44805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5518403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3856" y="5376671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Calibri"/>
              </a:rPr>
              <a:t>The system displays recommended hotels for comparison.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283E"/>
                </a:solidFill>
                <a:latin typeface="Calibri"/>
              </a:defRPr>
            </a:pPr>
            <a:r>
              <a:t>SLIDE 09  |  SCOPE &amp; ROADMAP</a:t>
            </a:r>
          </a:p>
          <a:p>
            <a:pPr>
              <a:defRPr sz="2800" b="1">
                <a:solidFill>
                  <a:srgbClr val="06283E"/>
                </a:solidFill>
                <a:latin typeface="Calibri"/>
              </a:defRPr>
            </a:pPr>
            <a:r>
              <a:t>Feature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1883664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709928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Focuses on tourist destinations within Kolhapur district.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04288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496312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22576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Provides historical, religious, cultural, and natural tourism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16936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310896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935224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Supports category-based destination exploration.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9584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721608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47872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Includes hotel recommendations based on user requirements.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42231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334255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160519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Provides hotel details for comparison rather than online booking.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54879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946903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773167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Includes proposed voice-based tourist assistance.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67527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5559551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385815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Future scope includes multiple languages, more destinations, improved recommendations, and online booking.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283E"/>
                </a:solidFill>
                <a:latin typeface="Calibri"/>
              </a:defRPr>
            </a:pPr>
            <a:r>
              <a:t>SLIDE 10  |  VALUE PROPOSITION</a:t>
            </a:r>
          </a:p>
          <a:p>
            <a:pPr>
              <a:defRPr sz="2800" b="1">
                <a:solidFill>
                  <a:srgbClr val="06283E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1883664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709928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Makes tourism information easier to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04288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496312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22576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Reduces the time required to plan a trip.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16936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310896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935224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Helps tourists compare hotels according to their needs.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9584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721608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47872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Supports convenient accommodation selection.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42231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334255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160519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Helps visitors discover popular and lesser-known destinations.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54879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946903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773167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Promotes awareness of Kolhapur's history and culture.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67527"/>
            <a:ext cx="448056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5559551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385815"/>
            <a:ext cx="3977639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293B"/>
                </a:solidFill>
                <a:latin typeface="Calibri"/>
              </a:rPr>
              <a:t>Improves the overall tourism-planning experience.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283E"/>
                </a:solidFill>
                <a:latin typeface="Calibri"/>
              </a:defRPr>
            </a:pPr>
            <a:r>
              <a:t>SLIDE 11  |  REFERENCES &amp; SOURCES</a:t>
            </a:r>
          </a:p>
          <a:p>
            <a:pPr>
              <a:defRPr sz="2800" b="1">
                <a:solidFill>
                  <a:srgbClr val="06283E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44805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2043684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801368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E293B"/>
                </a:solidFill>
                <a:latin typeface="Calibri"/>
              </a:rPr>
              <a:t>Department of Tourism, Government of Maharashtra – Kolhapur District Tourism.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87752"/>
            <a:ext cx="44805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848356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606040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E293B"/>
                </a:solidFill>
                <a:latin typeface="Calibri"/>
              </a:rPr>
              <a:t>District Administration, Kolhapur – Places of Interest.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92424"/>
            <a:ext cx="44805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3653028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410712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E293B"/>
                </a:solidFill>
                <a:latin typeface="Calibri"/>
              </a:rPr>
              <a:t>District Administration, Kolhapur – History of Kolhapur District.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97096"/>
            <a:ext cx="44805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445770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215383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E293B"/>
                </a:solidFill>
                <a:latin typeface="Calibri"/>
              </a:rPr>
              <a:t>J. Borràs, A. Moreno and A. Valls – </a:t>
            </a:r>
            <a:r>
              <a:rPr sz="1250" i="1" b="1">
                <a:solidFill>
                  <a:srgbClr val="06283E"/>
                </a:solidFill>
                <a:latin typeface="Calibri"/>
              </a:rPr>
              <a:t>Intelligent Tourism Recommender Systems: A Survey</a:t>
            </a:r>
            <a:r>
              <a:rPr sz="1250" b="1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001768"/>
            <a:ext cx="44805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5262372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5020055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E293B"/>
                </a:solidFill>
                <a:latin typeface="Calibri"/>
              </a:rPr>
              <a:t>Shivaji University, Kolhapur – Shahu Research Centre.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283E"/>
                </a:solidFill>
                <a:latin typeface="Calibri"/>
              </a:defRPr>
            </a:pPr>
            <a:r>
              <a:t>SLIDE 12  |  SUMMARY &amp; OUTCOMES</a:t>
            </a:r>
          </a:p>
          <a:p>
            <a:pPr>
              <a:defRPr sz="2800" b="1">
                <a:solidFill>
                  <a:srgbClr val="06283E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196596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755648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SMART KOLHAPUR GUIDE aims to simplify tourism 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59736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688336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478024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It combines tourist information and hotel recommendations in one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82112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3410712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200400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It helps users discover destinations based on their interests.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04487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4133087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922775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It supports hotel selection based on budget, ratings, location, and facilities.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26864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855464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645152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The proposed system provides a convenient and user-friendly tourism experience.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34924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5577840"/>
            <a:ext cx="137160" cy="137160"/>
          </a:xfrm>
          <a:prstGeom prst="ellipse">
            <a:avLst/>
          </a:prstGeom>
          <a:noFill/>
          <a:ln w="25400">
            <a:solidFill>
              <a:srgbClr val="06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5367527"/>
            <a:ext cx="397763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Calibri"/>
              </a:rPr>
              <a:t>It can be expanded with additional tourism services in the future.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0116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283E"/>
                </a:solidFill>
                <a:latin typeface="Calibri"/>
              </a:defRPr>
            </a:pPr>
            <a:r>
              <a:t>SLIDE 13  |  CONCLUSION</a:t>
            </a:r>
          </a:p>
          <a:p>
            <a:pPr algn="ctr">
              <a:defRPr sz="3600" b="1">
                <a:solidFill>
                  <a:srgbClr val="06283E"/>
                </a:solidFill>
                <a:latin typeface="Calibri"/>
              </a:defRPr>
            </a:pPr>
            <a:r>
              <a:t>Smart Kolhapur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